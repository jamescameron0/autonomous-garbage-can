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0" r:id="rId11"/>
    <p:sldId id="271" r:id="rId12"/>
    <p:sldId id="272" r:id="rId13"/>
  </p:sldIdLst>
  <p:sldSz cx="12192000" cy="6858000"/>
  <p:notesSz cx="6858000" cy="9144000"/>
  <p:embeddedFontLst>
    <p:embeddedFont>
      <p:font typeface="Montserrat" panose="020B0604020202020204" charset="0"/>
      <p:regular r:id="rId15"/>
      <p:bold r:id="rId16"/>
      <p:italic r:id="rId17"/>
      <p:boldItalic r:id="rId18"/>
    </p:embeddedFont>
    <p:embeddedFont>
      <p:font typeface="Montserrat ExtraBold" panose="020B0604020202020204" charset="0"/>
      <p:bold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60DBD-977E-4423-A1B0-1D9121A9BD02}" v="9" dt="2025-12-04T02:02:09.256"/>
    <p1510:client id="{C2DB7D27-EEC8-4462-A292-833FC55897A8}" v="10" dt="2025-12-04T01:35:21.292"/>
  </p1510:revLst>
</p1510:revInfo>
</file>

<file path=ppt/tableStyles.xml><?xml version="1.0" encoding="utf-8"?>
<a:tblStyleLst xmlns:a="http://schemas.openxmlformats.org/drawingml/2006/main" def="{A315C780-A6E0-4ECD-8FB0-BC06A5F0D691}">
  <a:tblStyle styleId="{A315C780-A6E0-4ECD-8FB0-BC06A5F0D6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02135A-AE89-456D-AA15-8BA89711D4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Namestnik" userId="ab313bcf-d5ec-42f8-b07a-24aa98c0b38c" providerId="ADAL" clId="{2DB21011-EBBA-4D31-99FF-6C6B244E86FA}"/>
    <pc:docChg chg="delSld modSld sldOrd">
      <pc:chgData name="Luca Namestnik" userId="ab313bcf-d5ec-42f8-b07a-24aa98c0b38c" providerId="ADAL" clId="{2DB21011-EBBA-4D31-99FF-6C6B244E86FA}" dt="2025-12-04T01:35:21.292" v="10" actId="47"/>
      <pc:docMkLst>
        <pc:docMk/>
      </pc:docMkLst>
      <pc:sldChg chg="ord">
        <pc:chgData name="Luca Namestnik" userId="ab313bcf-d5ec-42f8-b07a-24aa98c0b38c" providerId="ADAL" clId="{2DB21011-EBBA-4D31-99FF-6C6B244E86FA}" dt="2025-12-04T01:33:07.773" v="9"/>
        <pc:sldMkLst>
          <pc:docMk/>
          <pc:sldMk cId="0" sldId="260"/>
        </pc:sldMkLst>
      </pc:sldChg>
      <pc:sldChg chg="modSp mod">
        <pc:chgData name="Luca Namestnik" userId="ab313bcf-d5ec-42f8-b07a-24aa98c0b38c" providerId="ADAL" clId="{2DB21011-EBBA-4D31-99FF-6C6B244E86FA}" dt="2025-12-04T01:26:34.857" v="7" actId="1036"/>
        <pc:sldMkLst>
          <pc:docMk/>
          <pc:sldMk cId="0" sldId="263"/>
        </pc:sldMkLst>
        <pc:picChg chg="mod">
          <ac:chgData name="Luca Namestnik" userId="ab313bcf-d5ec-42f8-b07a-24aa98c0b38c" providerId="ADAL" clId="{2DB21011-EBBA-4D31-99FF-6C6B244E86FA}" dt="2025-12-04T01:26:34.857" v="7" actId="1036"/>
          <ac:picMkLst>
            <pc:docMk/>
            <pc:sldMk cId="0" sldId="263"/>
            <ac:picMk id="207" creationId="{00000000-0000-0000-0000-000000000000}"/>
          </ac:picMkLst>
        </pc:picChg>
        <pc:picChg chg="mod">
          <ac:chgData name="Luca Namestnik" userId="ab313bcf-d5ec-42f8-b07a-24aa98c0b38c" providerId="ADAL" clId="{2DB21011-EBBA-4D31-99FF-6C6B244E86FA}" dt="2025-12-03T22:38:37.523" v="4" actId="14100"/>
          <ac:picMkLst>
            <pc:docMk/>
            <pc:sldMk cId="0" sldId="263"/>
            <ac:picMk id="208" creationId="{00000000-0000-0000-0000-000000000000}"/>
          </ac:picMkLst>
        </pc:picChg>
      </pc:sldChg>
      <pc:sldChg chg="del">
        <pc:chgData name="Luca Namestnik" userId="ab313bcf-d5ec-42f8-b07a-24aa98c0b38c" providerId="ADAL" clId="{2DB21011-EBBA-4D31-99FF-6C6B244E86FA}" dt="2025-12-04T01:35:21.292" v="10" actId="47"/>
        <pc:sldMkLst>
          <pc:docMk/>
          <pc:sldMk cId="0" sldId="268"/>
        </pc:sldMkLst>
      </pc:sldChg>
    </pc:docChg>
  </pc:docChgLst>
  <pc:docChgLst>
    <pc:chgData name="Isaac Hammer" userId="907698a0-7bac-44db-a515-b74d0e126bee" providerId="ADAL" clId="{9E037FF7-C796-4499-AD89-6E89BA4BFD40}"/>
    <pc:docChg chg="custSel delSld modSld">
      <pc:chgData name="Isaac Hammer" userId="907698a0-7bac-44db-a515-b74d0e126bee" providerId="ADAL" clId="{9E037FF7-C796-4499-AD89-6E89BA4BFD40}" dt="2025-12-04T02:02:09.256" v="109" actId="47"/>
      <pc:docMkLst>
        <pc:docMk/>
      </pc:docMkLst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56"/>
        </pc:sldMkLst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57"/>
        </pc:sldMkLst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58"/>
        </pc:sldMkLst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59"/>
        </pc:sldMkLst>
      </pc:sldChg>
      <pc:sldChg chg="modSp mod 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60"/>
        </pc:sldMkLst>
        <pc:spChg chg="mod">
          <ac:chgData name="Isaac Hammer" userId="907698a0-7bac-44db-a515-b74d0e126bee" providerId="ADAL" clId="{9E037FF7-C796-4499-AD89-6E89BA4BFD40}" dt="2025-12-03T22:18:10.472" v="35" actId="20577"/>
          <ac:spMkLst>
            <pc:docMk/>
            <pc:sldMk cId="0" sldId="260"/>
            <ac:spMk id="145" creationId="{00000000-0000-0000-0000-000000000000}"/>
          </ac:spMkLst>
        </pc:spChg>
        <pc:spChg chg="mod">
          <ac:chgData name="Isaac Hammer" userId="907698a0-7bac-44db-a515-b74d0e126bee" providerId="ADAL" clId="{9E037FF7-C796-4499-AD89-6E89BA4BFD40}" dt="2025-12-03T22:20:32.207" v="82" actId="255"/>
          <ac:spMkLst>
            <pc:docMk/>
            <pc:sldMk cId="0" sldId="260"/>
            <ac:spMk id="148" creationId="{00000000-0000-0000-0000-000000000000}"/>
          </ac:spMkLst>
        </pc:spChg>
        <pc:spChg chg="mod">
          <ac:chgData name="Isaac Hammer" userId="907698a0-7bac-44db-a515-b74d0e126bee" providerId="ADAL" clId="{9E037FF7-C796-4499-AD89-6E89BA4BFD40}" dt="2025-12-03T22:20:07.274" v="81" actId="1076"/>
          <ac:spMkLst>
            <pc:docMk/>
            <pc:sldMk cId="0" sldId="260"/>
            <ac:spMk id="149" creationId="{00000000-0000-0000-0000-000000000000}"/>
          </ac:spMkLst>
        </pc:spChg>
        <pc:spChg chg="mod">
          <ac:chgData name="Isaac Hammer" userId="907698a0-7bac-44db-a515-b74d0e126bee" providerId="ADAL" clId="{9E037FF7-C796-4499-AD89-6E89BA4BFD40}" dt="2025-12-03T22:20:37.316" v="83" actId="255"/>
          <ac:spMkLst>
            <pc:docMk/>
            <pc:sldMk cId="0" sldId="260"/>
            <ac:spMk id="151" creationId="{00000000-0000-0000-0000-000000000000}"/>
          </ac:spMkLst>
        </pc:spChg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61"/>
        </pc:sldMkLst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62"/>
        </pc:sldMkLst>
      </pc:sldChg>
      <pc:sldChg chg="modTransition">
        <pc:chgData name="Isaac Hammer" userId="907698a0-7bac-44db-a515-b74d0e126bee" providerId="ADAL" clId="{9E037FF7-C796-4499-AD89-6E89BA4BFD40}" dt="2025-12-03T22:22:17.866" v="85"/>
        <pc:sldMkLst>
          <pc:docMk/>
          <pc:sldMk cId="0" sldId="263"/>
        </pc:sldMkLst>
      </pc:sldChg>
      <pc:sldChg chg="modSp del mod modTransition">
        <pc:chgData name="Isaac Hammer" userId="907698a0-7bac-44db-a515-b74d0e126bee" providerId="ADAL" clId="{9E037FF7-C796-4499-AD89-6E89BA4BFD40}" dt="2025-12-04T02:02:08.677" v="107" actId="47"/>
        <pc:sldMkLst>
          <pc:docMk/>
          <pc:sldMk cId="0" sldId="264"/>
        </pc:sldMkLst>
        <pc:picChg chg="mod">
          <ac:chgData name="Isaac Hammer" userId="907698a0-7bac-44db-a515-b74d0e126bee" providerId="ADAL" clId="{9E037FF7-C796-4499-AD89-6E89BA4BFD40}" dt="2025-12-04T01:25:08.776" v="106" actId="1036"/>
          <ac:picMkLst>
            <pc:docMk/>
            <pc:sldMk cId="0" sldId="264"/>
            <ac:picMk id="251" creationId="{00000000-0000-0000-0000-000000000000}"/>
          </ac:picMkLst>
        </pc:picChg>
      </pc:sldChg>
      <pc:sldChg chg="del modTransition">
        <pc:chgData name="Isaac Hammer" userId="907698a0-7bac-44db-a515-b74d0e126bee" providerId="ADAL" clId="{9E037FF7-C796-4499-AD89-6E89BA4BFD40}" dt="2025-12-04T02:02:09.120" v="108" actId="47"/>
        <pc:sldMkLst>
          <pc:docMk/>
          <pc:sldMk cId="0" sldId="265"/>
        </pc:sldMkLst>
      </pc:sldChg>
      <pc:sldChg chg="del modTransition">
        <pc:chgData name="Isaac Hammer" userId="907698a0-7bac-44db-a515-b74d0e126bee" providerId="ADAL" clId="{9E037FF7-C796-4499-AD89-6E89BA4BFD40}" dt="2025-12-04T02:02:09.256" v="109" actId="47"/>
        <pc:sldMkLst>
          <pc:docMk/>
          <pc:sldMk cId="0" sldId="266"/>
        </pc:sldMkLst>
      </pc:sldChg>
      <pc:sldChg chg="modSp mod modTransition">
        <pc:chgData name="Isaac Hammer" userId="907698a0-7bac-44db-a515-b74d0e126bee" providerId="ADAL" clId="{9E037FF7-C796-4499-AD89-6E89BA4BFD40}" dt="2025-12-03T22:35:47.744" v="103" actId="20577"/>
        <pc:sldMkLst>
          <pc:docMk/>
          <pc:sldMk cId="0" sldId="267"/>
        </pc:sldMkLst>
        <pc:spChg chg="mod">
          <ac:chgData name="Isaac Hammer" userId="907698a0-7bac-44db-a515-b74d0e126bee" providerId="ADAL" clId="{9E037FF7-C796-4499-AD89-6E89BA4BFD40}" dt="2025-12-03T22:35:47.744" v="103" actId="20577"/>
          <ac:spMkLst>
            <pc:docMk/>
            <pc:sldMk cId="0" sldId="267"/>
            <ac:spMk id="326" creationId="{00000000-0000-0000-0000-000000000000}"/>
          </ac:spMkLst>
        </pc:spChg>
      </pc:sldChg>
      <pc:sldChg chg="modSp mod modTransition">
        <pc:chgData name="Isaac Hammer" userId="907698a0-7bac-44db-a515-b74d0e126bee" providerId="ADAL" clId="{9E037FF7-C796-4499-AD89-6E89BA4BFD40}" dt="2025-12-03T22:35:41.125" v="97" actId="20577"/>
        <pc:sldMkLst>
          <pc:docMk/>
          <pc:sldMk cId="0" sldId="268"/>
        </pc:sldMkLst>
        <pc:spChg chg="mod">
          <ac:chgData name="Isaac Hammer" userId="907698a0-7bac-44db-a515-b74d0e126bee" providerId="ADAL" clId="{9E037FF7-C796-4499-AD89-6E89BA4BFD40}" dt="2025-12-03T22:35:41.125" v="97" actId="20577"/>
          <ac:spMkLst>
            <pc:docMk/>
            <pc:sldMk cId="0" sldId="268"/>
            <ac:spMk id="341" creationId="{00000000-0000-0000-0000-000000000000}"/>
          </ac:spMkLst>
        </pc:spChg>
      </pc:sldChg>
      <pc:sldChg chg="del modTransition">
        <pc:chgData name="Isaac Hammer" userId="907698a0-7bac-44db-a515-b74d0e126bee" providerId="ADAL" clId="{9E037FF7-C796-4499-AD89-6E89BA4BFD40}" dt="2025-12-03T22:35:12.792" v="88" actId="47"/>
        <pc:sldMkLst>
          <pc:docMk/>
          <pc:sldMk cId="0" sldId="269"/>
        </pc:sldMkLst>
      </pc:sldChg>
      <pc:sldChg chg="modSp mod modTransition">
        <pc:chgData name="Isaac Hammer" userId="907698a0-7bac-44db-a515-b74d0e126bee" providerId="ADAL" clId="{9E037FF7-C796-4499-AD89-6E89BA4BFD40}" dt="2025-12-03T22:36:03.511" v="104" actId="1076"/>
        <pc:sldMkLst>
          <pc:docMk/>
          <pc:sldMk cId="0" sldId="270"/>
        </pc:sldMkLst>
        <pc:picChg chg="mod">
          <ac:chgData name="Isaac Hammer" userId="907698a0-7bac-44db-a515-b74d0e126bee" providerId="ADAL" clId="{9E037FF7-C796-4499-AD89-6E89BA4BFD40}" dt="2025-12-03T22:36:03.511" v="104" actId="1076"/>
          <ac:picMkLst>
            <pc:docMk/>
            <pc:sldMk cId="0" sldId="270"/>
            <ac:picMk id="362" creationId="{00000000-0000-0000-0000-000000000000}"/>
          </ac:picMkLst>
        </pc:picChg>
      </pc:sldChg>
      <pc:sldChg chg="modSp mod modTransition">
        <pc:chgData name="Isaac Hammer" userId="907698a0-7bac-44db-a515-b74d0e126bee" providerId="ADAL" clId="{9E037FF7-C796-4499-AD89-6E89BA4BFD40}" dt="2025-12-03T22:35:28.650" v="91" actId="20577"/>
        <pc:sldMkLst>
          <pc:docMk/>
          <pc:sldMk cId="0" sldId="271"/>
        </pc:sldMkLst>
        <pc:spChg chg="mod">
          <ac:chgData name="Isaac Hammer" userId="907698a0-7bac-44db-a515-b74d0e126bee" providerId="ADAL" clId="{9E037FF7-C796-4499-AD89-6E89BA4BFD40}" dt="2025-12-03T22:35:28.650" v="91" actId="20577"/>
          <ac:spMkLst>
            <pc:docMk/>
            <pc:sldMk cId="0" sldId="271"/>
            <ac:spMk id="393" creationId="{00000000-0000-0000-0000-000000000000}"/>
          </ac:spMkLst>
        </pc:spChg>
      </pc:sldChg>
      <pc:sldChg chg="addSp modSp mod modTransition">
        <pc:chgData name="Isaac Hammer" userId="907698a0-7bac-44db-a515-b74d0e126bee" providerId="ADAL" clId="{9E037FF7-C796-4499-AD89-6E89BA4BFD40}" dt="2025-12-03T22:33:35.665" v="87" actId="1076"/>
        <pc:sldMkLst>
          <pc:docMk/>
          <pc:sldMk cId="0" sldId="272"/>
        </pc:sldMkLst>
        <pc:picChg chg="add mod">
          <ac:chgData name="Isaac Hammer" userId="907698a0-7bac-44db-a515-b74d0e126bee" providerId="ADAL" clId="{9E037FF7-C796-4499-AD89-6E89BA4BFD40}" dt="2025-12-03T22:33:35.665" v="87" actId="1076"/>
          <ac:picMkLst>
            <pc:docMk/>
            <pc:sldMk cId="0" sldId="272"/>
            <ac:picMk id="3" creationId="{90607BF5-7826-8448-F6F4-701C2EF4EE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4012d3f57_4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4012d3f57_4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012d3f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a4012d3f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4012d3f57_4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a4012d3f57_4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4012d3f57_2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a4012d3f57_2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4012d3f5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a4012d3f5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4012d3f57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a4012d3f57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3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9987" y="4489995"/>
            <a:ext cx="47720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45543" y="1567755"/>
            <a:ext cx="7300912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AUTONOMOUS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GARBAGE CAN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19375" y="3510855"/>
            <a:ext cx="69532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Group 4: 4A03 Engineering &amp; Management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09987" y="4794795"/>
            <a:ext cx="4772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Isaac Hammer, Luca Namestnik, Carson Crysler, Matthew Rakic, James Cameron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 likie the left half of the slide but can you just pull some image off google as a pose to generating somethinf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26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952500" y="2524125"/>
            <a:ext cx="49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52463" y="2237888"/>
            <a:ext cx="4905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Autonomous: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Self-drives from garage to curb on a set schedule.</a:t>
            </a:r>
            <a:endParaRPr sz="1700"/>
          </a:p>
        </p:txBody>
      </p:sp>
      <p:sp>
        <p:nvSpPr>
          <p:cNvPr id="104" name="Google Shape;104;p15"/>
          <p:cNvSpPr txBox="1"/>
          <p:nvPr/>
        </p:nvSpPr>
        <p:spPr>
          <a:xfrm>
            <a:off x="952475" y="3271650"/>
            <a:ext cx="4905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Smart Return: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Detects when emptied and automatically returns to the charging dock.</a:t>
            </a:r>
            <a:endParaRPr sz="1800"/>
          </a:p>
        </p:txBody>
      </p:sp>
      <p:sp>
        <p:nvSpPr>
          <p:cNvPr id="105" name="Google Shape;105;p15"/>
          <p:cNvSpPr txBox="1"/>
          <p:nvPr/>
        </p:nvSpPr>
        <p:spPr>
          <a:xfrm>
            <a:off x="952475" y="4305400"/>
            <a:ext cx="4905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Winter Ready: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High-traction wheels and sealed electronics for Canadian climates.</a:t>
            </a:r>
            <a:endParaRPr sz="1800"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23" y="2333625"/>
            <a:ext cx="396625" cy="3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25" y="3433488"/>
            <a:ext cx="396625" cy="3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25" y="4445206"/>
            <a:ext cx="396625" cy="44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3974" y="1316643"/>
            <a:ext cx="3633150" cy="50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98850" y="6327025"/>
            <a:ext cx="3623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 generated by Google Gemini</a:t>
            </a:r>
            <a:endParaRPr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6450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76450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76450"/>
            <a:ext cx="3492549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Value Proposition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94225" y="310515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Convenience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619500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"Set it and forget it."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4114800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Eliminates the weekly chore and arguments over whose turn it is. Never miss a pickup day again.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572524" y="310515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Safety &amp; Accessibility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3619500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Reduced Risk.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124" y="4114800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Prevents slip-and-fall injuries on icy driveways. Critical for seniors and those with limited mobility.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50824" y="310515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Cost Efficiency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3619500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One-Time Purchase.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23374" y="4114800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Provides the luxury of a concierge service without the expensive recurring monthly fees.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4003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400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7124" y="2400300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526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526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374" y="2447925"/>
            <a:ext cx="2901999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Market Opportunity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2673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Smart Bin market is growing at a </a:t>
            </a:r>
            <a:r>
              <a:rPr lang="en-US" sz="1500" b="1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12.4% CAGR</a:t>
            </a:r>
            <a:r>
              <a:rPr lang="en-US" sz="150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94225" y="3181350"/>
            <a:ext cx="30470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TAM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Montserrat"/>
                <a:sym typeface="Montserrat"/>
              </a:rPr>
              <a:t>(Total Addressable Market)</a:t>
            </a:r>
            <a:endParaRPr sz="1200"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36957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$6.95 Billion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41910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9.27M Canadian detached homes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572524" y="3181350"/>
            <a:ext cx="3047099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SAM</a:t>
            </a:r>
          </a:p>
          <a:p>
            <a:pPr algn="ctr"/>
            <a:r>
              <a:rPr lang="en-US" sz="1200">
                <a:solidFill>
                  <a:srgbClr val="0F172A"/>
                </a:solidFill>
                <a:latin typeface="Montserrat"/>
                <a:sym typeface="Montserrat"/>
              </a:rPr>
              <a:t>(Serviceable Available Market)</a:t>
            </a:r>
            <a:endParaRPr lang="en-US" sz="12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35549" y="3701973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$1.74 Billion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5074" y="41910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2.32M "Smart Home" adopters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50824" y="3181350"/>
            <a:ext cx="3047099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SOM</a:t>
            </a:r>
          </a:p>
          <a:p>
            <a:pPr algn="ctr"/>
            <a:r>
              <a:rPr lang="en-US" sz="1200">
                <a:solidFill>
                  <a:srgbClr val="0F172A"/>
                </a:solidFill>
                <a:latin typeface="Montserrat"/>
                <a:sym typeface="Montserrat"/>
              </a:rPr>
              <a:t>(Serviceable Obtainable Market)</a:t>
            </a:r>
            <a:endParaRPr lang="en-US" sz="12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3374" y="36957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$26 Million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3374" y="41910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35,000 units over 5 years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0525" y="24765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67400" y="2476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17274" y="2490788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8850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28850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28850"/>
            <a:ext cx="3492549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Target Customers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94225" y="3257550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Seniors &amp; Mobility Limited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409575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Value: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Safety &amp; Independence.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45910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Prevents injury on icy driveways and eliminates heavy lifting.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572524" y="32575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Tech Adopters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45074" y="37719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Value: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Automation.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45074" y="42672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Integrates with the smart home ecosystem for "set it and forget it" convenience.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50824" y="32575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Busy Families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23374" y="37719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Value: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Time Savings.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423374" y="426720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Eliminates the weekly chore and arguments over whose turn it is.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552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550" y="25527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55270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Competitive Landscape: Blue Ocean Strategy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571500" y="2557462"/>
          <a:ext cx="11048975" cy="2990875"/>
        </p:xfrm>
        <a:graphic>
          <a:graphicData uri="http://schemas.openxmlformats.org/drawingml/2006/table">
            <a:tbl>
              <a:tblPr firstRow="1" bandRow="1">
                <a:noFill/>
                <a:tableStyleId>{A315C780-A6E0-4ECD-8FB0-BC06A5F0D691}</a:tableStyleId>
              </a:tblPr>
              <a:tblGrid>
                <a:gridCol w="216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5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 Bins (Rubbermaid)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Concierge Service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Product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One-Time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Recurring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Mid One-Time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None (Manual)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Full (Human)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Full (Robotic)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 Memory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Taught Waypoints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Winter Safety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(User Risk)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19"/>
          <p:cNvSpPr/>
          <p:nvPr/>
        </p:nvSpPr>
        <p:spPr>
          <a:xfrm>
            <a:off x="571500" y="3733800"/>
            <a:ext cx="2166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738437" y="3733800"/>
            <a:ext cx="3772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510486" y="3733800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9065269" y="3733800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71500" y="4333875"/>
            <a:ext cx="2166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38437" y="4333875"/>
            <a:ext cx="3772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510486" y="4333875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065269" y="4333875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4933950"/>
            <a:ext cx="2166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738437" y="4933950"/>
            <a:ext cx="3772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510486" y="4933950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9065269" y="4933950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5534025"/>
            <a:ext cx="2166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738437" y="5534025"/>
            <a:ext cx="3772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510486" y="5534025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9065269" y="5534025"/>
            <a:ext cx="25552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261" y="1793979"/>
            <a:ext cx="1398027" cy="131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3475" y="3462188"/>
            <a:ext cx="1333500" cy="115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3475" y="4961334"/>
            <a:ext cx="1333500" cy="115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1829692"/>
            <a:ext cx="1333500" cy="115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25025" y="3382267"/>
            <a:ext cx="1333500" cy="115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25025" y="4934842"/>
            <a:ext cx="1333500" cy="115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5375" y="2767012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25125" y="63579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Technology 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91200" y="29338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225891" y="3686323"/>
            <a:ext cx="174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STM32 MCU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443537" y="4105423"/>
            <a:ext cx="1305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Central Control Unit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443537" y="4634954"/>
            <a:ext cx="1305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Path Planning &amp; Logic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14475" y="19078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1212288" y="2512650"/>
            <a:ext cx="13050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Ultrasonic/ToF</a:t>
            </a:r>
            <a:r>
              <a:rPr lang="en-US" sz="1050" b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and Bumper</a:t>
            </a: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Sensors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238173" y="2901450"/>
            <a:ext cx="1124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Obstacle Detection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14475" y="356696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395323" y="4214675"/>
            <a:ext cx="72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9-DoF IMU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514475" y="4374653"/>
            <a:ext cx="571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Navigation</a:t>
            </a:r>
            <a:endParaRPr/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14475" y="506610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1271587" y="5713809"/>
            <a:ext cx="1057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Wheel Encoder 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1276225" y="5847825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Speed and Distance</a:t>
            </a:r>
            <a:endParaRPr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06025" y="193446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0029825" y="2582167"/>
            <a:ext cx="72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BLE Module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9939337" y="2742158"/>
            <a:ext cx="904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Mobile App Setup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06025" y="348704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9939325" y="4134750"/>
            <a:ext cx="1000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Motor Drivers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0082212" y="4294733"/>
            <a:ext cx="61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Locomotion</a:t>
            </a:r>
            <a:endParaRPr/>
          </a:p>
        </p:txBody>
      </p:sp>
      <p:pic>
        <p:nvPicPr>
          <p:cNvPr id="237" name="Google Shape;237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06025" y="503961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9891712" y="5687317"/>
            <a:ext cx="1000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LiFePO4 Battery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867900" y="5847308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Cold Weather Power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685925" y="207927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685925" y="373841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685925" y="523755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306050" y="210591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248900" y="365849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263187" y="521106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0082200" y="6117900"/>
            <a:ext cx="1987875" cy="7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26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Financial Viability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526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952500" y="31337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NPV (5-Year):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$12.2 Million CAD.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952500" y="35814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Break-Even: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Year 3 (Approx. 0.8 years post-launch).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952500" y="4029075"/>
            <a:ext cx="4905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Investment Need: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$300,000 for MVP phase.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952500" y="44767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ECV: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$9.8 Million (Expected Commercial Value).</a:t>
            </a:r>
            <a:endParaRPr/>
          </a:p>
        </p:txBody>
      </p:sp>
      <p:pic>
        <p:nvPicPr>
          <p:cNvPr id="328" name="Google Shape;32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190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0562" y="36385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" y="40862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" y="453390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48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752748"/>
            <a:ext cx="3492549" cy="440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52748"/>
            <a:ext cx="3492549" cy="440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0049" y="1752748"/>
            <a:ext cx="3492549" cy="440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25125" y="63579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Risk Management Strategy</a:t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794225" y="2819548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Hardware Reliability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866875" y="3370798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High Probability / Impact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939425" y="3829198"/>
            <a:ext cx="290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Risk: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Winter corrosion &amp; mechanical failure.</a:t>
            </a:r>
            <a:endParaRPr/>
          </a:p>
        </p:txBody>
      </p:sp>
      <p:pic>
        <p:nvPicPr>
          <p:cNvPr id="372" name="Google Shape;372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4536909"/>
            <a:ext cx="2901999" cy="92184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/>
        </p:nvSpPr>
        <p:spPr>
          <a:xfrm>
            <a:off x="4572524" y="2819548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Navigation Failure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4645074" y="3333898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Roboto"/>
                <a:ea typeface="Roboto"/>
                <a:cs typeface="Roboto"/>
                <a:sym typeface="Roboto"/>
              </a:rPr>
              <a:t>Medium Probability / High Impact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4645074" y="3917961"/>
            <a:ext cx="290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Risk: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Sensor obstruction or signal loss.</a:t>
            </a:r>
            <a:endParaRPr/>
          </a:p>
        </p:txBody>
      </p:sp>
      <p:pic>
        <p:nvPicPr>
          <p:cNvPr id="376" name="Google Shape;37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5074" y="4522554"/>
            <a:ext cx="2901999" cy="92184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7"/>
          <p:cNvSpPr txBox="1"/>
          <p:nvPr/>
        </p:nvSpPr>
        <p:spPr>
          <a:xfrm>
            <a:off x="8350824" y="2819548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Supply Chain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8423374" y="3333898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Roboto"/>
                <a:ea typeface="Roboto"/>
                <a:cs typeface="Roboto"/>
                <a:sym typeface="Roboto"/>
              </a:rPr>
              <a:t>Medium Probability / Impact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8423299" y="3947461"/>
            <a:ext cx="290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Risk: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Component shortages or delays.</a:t>
            </a:r>
            <a:endParaRPr/>
          </a:p>
        </p:txBody>
      </p:sp>
      <p:pic>
        <p:nvPicPr>
          <p:cNvPr id="380" name="Google Shape;380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50824" y="4522554"/>
            <a:ext cx="2901999" cy="921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17675" y="2114698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67400" y="2114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17124" y="211469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237100" y="6162525"/>
            <a:ext cx="29019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71017"/>
            <a:ext cx="5286375" cy="391596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439340" y="1115466"/>
            <a:ext cx="555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Ask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571500" y="2953791"/>
            <a:ext cx="5286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ACC15"/>
                </a:solidFill>
                <a:latin typeface="Roboto"/>
                <a:ea typeface="Roboto"/>
                <a:cs typeface="Roboto"/>
                <a:sym typeface="Roboto"/>
              </a:rPr>
              <a:t>$300k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571500" y="4782591"/>
            <a:ext cx="52863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To execute the 24-week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MVP Build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6715125" y="1852017"/>
            <a:ext cx="475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ACC15"/>
                </a:solidFill>
                <a:latin typeface="Montserrat"/>
                <a:ea typeface="Montserrat"/>
                <a:cs typeface="Montserrat"/>
                <a:sym typeface="Montserrat"/>
              </a:rPr>
              <a:t>Investment Return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7096125" y="2366367"/>
            <a:ext cx="4143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$26M Market Access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First-mover advantage in smart waste.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7096125" y="3274814"/>
            <a:ext cx="4143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Margin IP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Patentable drive pod technology.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7096125" y="4183260"/>
            <a:ext cx="41433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Clear Exit Strategy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Acquisition target for major appliance brands.</a:t>
            </a:r>
            <a:endParaRPr/>
          </a:p>
        </p:txBody>
      </p:sp>
      <p:pic>
        <p:nvPicPr>
          <p:cNvPr id="398" name="Google Shape;39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6087" y="242351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6087" y="3331964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6087" y="4240410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2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5125" y="63579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References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666750" y="1629727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762000" y="1628775"/>
            <a:ext cx="5143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Gov. of Canada, Statistics Canada, "Estimates of the number of private households by size," 2025.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666750" y="2071449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762000" y="2070496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Gov. of Canada, Statistics Canada, "Index to the latest information from the Census," 2025.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666750" y="2339935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762000" y="2338982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Protolabs, "Cool Idea Award Winner: SmartCan."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666750" y="2608421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762000" y="2607468"/>
            <a:ext cx="5143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K. L. Wilson, "Motorized Garbage Can and Automatic Lid Opener," US Patent 2007/0209846A1, 2007.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666750" y="3050143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762000" y="3049190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Justia.com, "Patents Assigned to Simplehuman LLC."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666750" y="3318629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762000" y="3317676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CSA Group, "Electrical Safety Standards for Consumer Products."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66750" y="3587115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762000" y="3586162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CSA Group, "Testing and Certification for Batteries."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666750" y="3855600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762000" y="3854648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ISED Canada, "Radio Standards Specifications (RSS)."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6315075" y="1646000"/>
            <a:ext cx="95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6477000" y="1628775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Privacy Commissioner of Canada, "PIPEDA."</a:t>
            </a:r>
            <a:endParaRPr/>
          </a:p>
        </p:txBody>
      </p:sp>
      <p:sp>
        <p:nvSpPr>
          <p:cNvPr id="427" name="Google Shape;427;p29"/>
          <p:cNvSpPr txBox="1"/>
          <p:nvPr/>
        </p:nvSpPr>
        <p:spPr>
          <a:xfrm>
            <a:off x="6315075" y="1898213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28" name="Google Shape;428;p29"/>
          <p:cNvSpPr txBox="1"/>
          <p:nvPr/>
        </p:nvSpPr>
        <p:spPr>
          <a:xfrm>
            <a:off x="6477000" y="1897260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Grand View Research, "Smart trash bin market size, share &amp; growth report, 2030."</a:t>
            </a:r>
            <a:endParaRPr/>
          </a:p>
        </p:txBody>
      </p:sp>
      <p:sp>
        <p:nvSpPr>
          <p:cNvPr id="429" name="Google Shape;429;p29"/>
          <p:cNvSpPr txBox="1"/>
          <p:nvPr/>
        </p:nvSpPr>
        <p:spPr>
          <a:xfrm>
            <a:off x="6315075" y="2165737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30" name="Google Shape;430;p29"/>
          <p:cNvSpPr txBox="1"/>
          <p:nvPr/>
        </p:nvSpPr>
        <p:spPr>
          <a:xfrm>
            <a:off x="6477000" y="2165746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Mordor Intelligence, "Canada Smart Home Market Size &amp; Forecast report 2030."</a:t>
            </a:r>
            <a:endParaRPr/>
          </a:p>
        </p:txBody>
      </p:sp>
      <p:sp>
        <p:nvSpPr>
          <p:cNvPr id="431" name="Google Shape;431;p29"/>
          <p:cNvSpPr txBox="1"/>
          <p:nvPr/>
        </p:nvSpPr>
        <p:spPr>
          <a:xfrm>
            <a:off x="6315075" y="2435185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32" name="Google Shape;432;p29"/>
          <p:cNvSpPr txBox="1"/>
          <p:nvPr/>
        </p:nvSpPr>
        <p:spPr>
          <a:xfrm>
            <a:off x="6477000" y="2434232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Environics Research, "Understanding fintech adopters in Canada."</a:t>
            </a:r>
            <a:endParaRPr/>
          </a:p>
        </p:txBody>
      </p:sp>
      <p:sp>
        <p:nvSpPr>
          <p:cNvPr id="433" name="Google Shape;433;p29"/>
          <p:cNvSpPr txBox="1"/>
          <p:nvPr/>
        </p:nvSpPr>
        <p:spPr>
          <a:xfrm>
            <a:off x="6315075" y="2703671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34" name="Google Shape;434;p29"/>
          <p:cNvSpPr txBox="1"/>
          <p:nvPr/>
        </p:nvSpPr>
        <p:spPr>
          <a:xfrm>
            <a:off x="6477000" y="2702718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Home Depot, "Trash Can Reviews."</a:t>
            </a:r>
            <a:endParaRPr/>
          </a:p>
        </p:txBody>
      </p:sp>
      <p:sp>
        <p:nvSpPr>
          <p:cNvPr id="435" name="Google Shape;435;p29"/>
          <p:cNvSpPr txBox="1"/>
          <p:nvPr/>
        </p:nvSpPr>
        <p:spPr>
          <a:xfrm>
            <a:off x="6315075" y="2972157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6477000" y="2971204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LinkedIn, "Cleanrobotics."</a:t>
            </a:r>
            <a:endParaRPr/>
          </a:p>
        </p:txBody>
      </p:sp>
      <p:sp>
        <p:nvSpPr>
          <p:cNvPr id="437" name="Google Shape;437;p29"/>
          <p:cNvSpPr txBox="1"/>
          <p:nvPr/>
        </p:nvSpPr>
        <p:spPr>
          <a:xfrm>
            <a:off x="6315075" y="3240643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6477000" y="3239690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Uline, "Toter Bear Tough Trash Cans."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6315075" y="3509129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40" name="Google Shape;440;p29"/>
          <p:cNvSpPr txBox="1"/>
          <p:nvPr/>
        </p:nvSpPr>
        <p:spPr>
          <a:xfrm>
            <a:off x="6477000" y="3508176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Verhagen Leiden, "Electric Tow Tug V-move L."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6315075" y="3777615"/>
            <a:ext cx="1620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6477000" y="3776662"/>
            <a:ext cx="5143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Willco Sales, "Waste Caddy Automated Trash Haulers."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07BF5-7826-8448-F6F4-701C2EF4E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955" y="4839193"/>
            <a:ext cx="3334215" cy="192431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2025-12-04T02:02:11Z</dcterms:modified>
</cp:coreProperties>
</file>